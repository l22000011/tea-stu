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645920"/>
            <a:ext cx="7619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Arial"/>
              </a:defRPr>
            </a:pPr>
            <a:r>
              <a:t>VK-RCD: Privacy-Preserving Multimodal</a:t>
            </a:r>
            <a:br/>
            <a:r>
              <a:t>Human Perception via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Arial"/>
              </a:defRPr>
            </a:pPr>
            <a:r>
              <a:t>Skeleton-Guided Encoding  ·  Reliability-Aware Fusion  ·  Hierarchical Distillation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566160"/>
            <a:ext cx="7619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Human Pose Estimation (HPE)  ·  Human Activity Recognition (HAR)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DaLian University of Technology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406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Why privacy-first multimodal human sensing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Arial"/>
              </a:defRPr>
            </a:pPr>
            <a:r>
              <a:t>The Privacy Dilemma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RGB cameras → high accuracy, zero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RF sensors (WiFi/mmWave) → privacy-safe, but noisy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025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Each single sensor is too weak alone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Key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Full-modal Teacher = 48mm (HPE) / 96% (HAR)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01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Single VK → Teacher CRASHES: 488mm / 3.4%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025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Single Depth → 234mm | Single LiDAR → 1615mm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0370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Teacher only works when everything is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Our Core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Can we build a system that: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013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✓ Uses only privacy-safe sensors?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025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✓ Works under arbitrary sensor failures?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037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✓ Approaches full-modal accuracy?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048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✓ Generalizes across tasks (HPE+HAR)?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060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8229600" y="28072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Answer: Yes — via Knowledge Distillation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How VK-RCD differs from existing approaches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89120"/>
            <a:ext cx="25603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165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4389120"/>
            <a:ext cx="1645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416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Privacy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389120"/>
            <a:ext cx="25603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4165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Missing-Modality Robust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389120"/>
            <a:ext cx="1645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4416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Multi-Task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389120"/>
            <a:ext cx="25603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4165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Sensors Used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60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27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RGB-only HPE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0" y="4709160"/>
            <a:ext cx="16459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47274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4709160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4727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709160"/>
            <a:ext cx="16459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47274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4709160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4727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1 (RGB)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001768"/>
            <a:ext cx="25603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0200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Depth / Thermal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08960" y="5001768"/>
            <a:ext cx="16459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50200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Partial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0" y="5001768"/>
            <a:ext cx="25603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0" y="50200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Weak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5001768"/>
            <a:ext cx="16459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50200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5001768"/>
            <a:ext cx="25603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50200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1-2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294376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3126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X-Fi (origin)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08960" y="5294376"/>
            <a:ext cx="16459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5312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5294376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46320" y="53126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Partial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0" y="5294376"/>
            <a:ext cx="16459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5312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61120" y="5294376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53126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FAFC"/>
                </a:solidFill>
                <a:latin typeface="Arial"/>
              </a:defRPr>
            </a:pPr>
            <a:r>
              <a:t>5 (incl. RGB)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586984"/>
            <a:ext cx="25603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6052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VK-RCD (Ours)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08960" y="5586984"/>
            <a:ext cx="16459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0" y="56052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54880" y="5586984"/>
            <a:ext cx="25603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46320" y="56052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STRONG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0" y="5586984"/>
            <a:ext cx="16459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56052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61120" y="5586984"/>
            <a:ext cx="2560320" cy="292608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52560" y="56052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5 (VK replaces RGB)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"/>
              </a:defRPr>
            </a:pPr>
            <a:r>
              <a:t>VK-RCD Framework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406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Three pillars: privacy encoding → reliability fusion → hierarchical distillation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Pillar 1: SkeletonPromptEncoder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Converts 17×2 VK keypoints → structured 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BoneGraphMixer: graph convolution on skeleton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025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Exploits anatomical priors (shoulder-elbow-wrist constraints)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Compensates for massive information loss from RGB → VK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Pillar 2: ReliabilityFusion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Heteroscedastic uncertainty per modality per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01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Dynamicweighting: σ²-drives attention, not hard-coded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025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Cross-attention: modalities exchange info before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0370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Degrades gracefully when unreliable sensors are 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rial"/>
              </a:defRPr>
            </a:pPr>
            <a:r>
              <a:t>Pillar 3: 4-Level Distillation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00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① Output level: final pose/action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013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② Token level: per-modality feature 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025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③ Bone level: skeleton structure understanding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037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④ Reliability level: which modality to trust when?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048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Random modality dropout during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Training Paradigm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21031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03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31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Train Teacher</a:t>
            </a:r>
            <a:br/>
            <a:r>
              <a:t>All 5 modalities</a:t>
            </a:r>
            <a:br/>
            <a:r>
              <a:t>(including VK)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697480" y="3977640"/>
            <a:ext cx="22860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71800" y="3657600"/>
            <a:ext cx="21031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3703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931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Knowledge Distillation</a:t>
            </a:r>
            <a:br/>
            <a:r>
              <a:t>4 levels of alignment</a:t>
            </a:r>
            <a:br/>
            <a:r>
              <a:t>Random modality dropout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20640" y="3977640"/>
            <a:ext cx="22860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3657600"/>
            <a:ext cx="21031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3703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931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Deploy Student</a:t>
            </a:r>
            <a:br/>
            <a:r>
              <a:t>Privacy-safe sensors only</a:t>
            </a:r>
            <a:br/>
            <a:r>
              <a:t>Arbitrary subset works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543800" y="397764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18120" y="3657600"/>
            <a:ext cx="21031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3703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  <a:latin typeface="Arial"/>
              </a:defRPr>
            </a:pPr>
            <a:r>
              <a:t>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931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Super-Teacher</a:t>
            </a:r>
            <a:br/>
            <a:r>
              <a:t>Joint HPE+HAR training</a:t>
            </a:r>
            <a:br/>
            <a:r>
              <a:t>Cross-task transfer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Deployed Student Variants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120640"/>
            <a:ext cx="1645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Student-VK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512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VK + any subset of Depth/LiDAR/mmWave/WiFi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532120"/>
            <a:ext cx="16459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550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Student-NV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532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Non-Visual only: Depth+LiDAR+mmWave+WiFi (no VK, completely blind to body shape)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"/>
              </a:defRPr>
            </a:pPr>
            <a:r>
              <a:t>Key Experimental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406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3 splits × 6 models × 31/15 modality combinations × 80+ evaluation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HPE — Random Split (MPJPE mm, lower is better)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46304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441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Modality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325880"/>
            <a:ext cx="146304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13441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Teacher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15544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34416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Student-VK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25880"/>
            <a:ext cx="15544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34416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Student-NV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1848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63677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All 5 modalities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61848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163677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48.45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618488"/>
            <a:ext cx="15544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63677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50.17 (+1.7mm)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618488"/>
            <a:ext cx="15544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163677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51.03 (+2.6mm)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89280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19110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VK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189280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19110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487.99 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1892808"/>
            <a:ext cx="155448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191109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92.66 (5.3×)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1892808"/>
            <a:ext cx="155448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191109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16712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218541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Depth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216712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218541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234.48 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2167128"/>
            <a:ext cx="15544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7872" y="218541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53.88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2167128"/>
            <a:ext cx="15544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218541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52.34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44144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24597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LiDAR 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244144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24597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1615 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2441448"/>
            <a:ext cx="155448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47872" y="245973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139.90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0" y="2441448"/>
            <a:ext cx="155448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245973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123.13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HAR — Random Split (Accuracy %, higher is better)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1325880"/>
            <a:ext cx="155448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134416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Modality Set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1325880"/>
            <a:ext cx="14630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11312" y="13441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Teacher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1325880"/>
            <a:ext cx="14630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74352" y="13441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Student-VK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064240" y="1325880"/>
            <a:ext cx="14630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37392" y="13441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Student-NV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1618488"/>
            <a:ext cx="15544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163677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All 4 modalities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8160" y="161848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11312" y="163677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95.57%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161848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74352" y="163677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96.53% 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064240" y="161848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37392" y="163677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96.11% ↑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1892808"/>
            <a:ext cx="155448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56832" y="191109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VK only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60" y="189280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11312" y="19110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3.40% 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0" y="189280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74352" y="19110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65.31% (19×)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064240" y="189280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37392" y="19110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2167128"/>
            <a:ext cx="15544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56832" y="218541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Depth+mmWave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38160" y="216712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11312" y="218541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95.76%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01200" y="216712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74352" y="218541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96.45% ↑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064240" y="2167128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37392" y="218541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96.18% ↑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0" y="2441448"/>
            <a:ext cx="155448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56832" y="2459736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LiDAR only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38160" y="244144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11312" y="24597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3.45% ⚠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01200" y="244144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74352" y="24597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40.80% (12×)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064240" y="2441448"/>
            <a:ext cx="1463040" cy="27432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137392" y="24597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26.31%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Three Critical Findings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48640" y="32461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Arial"/>
              </a:defRPr>
            </a:pPr>
            <a:r>
              <a:t>1. Distillation prevents modality collapse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3657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Teacher on VK-only: 488mm (useless)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38587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Student-VK on VK-only: 93mm (usable!)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" y="40599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KD teaches the model how to reason with weak signals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426110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Not just accuracy transfer — it's robustness transfer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297680" y="32461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6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2. Student generalizes BETTER than Teacher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80560" y="3657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Cross-Scene HPE: Student 71.7mm &lt; Teacher 76.1mm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80560" y="38587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Cross-Scene HAR: Student 95.3% &gt; Teacher 94.8%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80560" y="40599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Cross-Subject HAR: Student 96.1% &gt; Teacher 95.5%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80560" y="426110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KD acts as a regularizer — not overfitting!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046720" y="32461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60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Arial"/>
              </a:defRPr>
            </a:pPr>
            <a:r>
              <a:t>3. Student-NV: perception without vision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0" y="3657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HPE: 51mm with zero visual input (VK/Depth/LiDAR all off)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0" y="38587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HAR: 96.1% with WiFi+mmWave only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0" y="40599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Pure RF sensing achieves clinically useful accuracy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0" y="42611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Proof: privacy and performance are not mutually exclusive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Ablation Validation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48640" y="5303520"/>
            <a:ext cx="237744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1792" y="5321808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Ablation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926080" y="5303520"/>
            <a:ext cx="201168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99232" y="5321808"/>
            <a:ext cx="1865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Random-Split All-Modal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937760" y="5303520"/>
            <a:ext cx="585216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10912" y="5321808"/>
            <a:ext cx="5705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Insight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48640" y="5577840"/>
            <a:ext cx="237744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1792" y="5596128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No Distillation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926080" y="5577840"/>
            <a:ext cx="20116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99232" y="5596128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48.83 / 96.0%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937760" y="5577840"/>
            <a:ext cx="585216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10912" y="5596128"/>
            <a:ext cx="5705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Distillation is necessary, not optional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5833872"/>
            <a:ext cx="2377440" cy="256032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1792" y="5852160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Uniform Fusion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926080" y="5833872"/>
            <a:ext cx="2011680" cy="256032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99232" y="5852160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53.63 / 95.4%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937760" y="5833872"/>
            <a:ext cx="5852160" cy="256032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010912" y="5852160"/>
            <a:ext cx="5705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Uncertainty weighting &gt; uniform averaging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" y="6089904"/>
            <a:ext cx="237744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21792" y="6108192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Super-Teacher (simplified head)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926080" y="6089904"/>
            <a:ext cx="20116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99232" y="6108192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60.0 / 90.7%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937760" y="6089904"/>
            <a:ext cx="585216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10912" y="6108192"/>
            <a:ext cx="5705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8FAFC"/>
                </a:solidFill>
                <a:latin typeface="Arial"/>
              </a:defRPr>
            </a:pPr>
            <a:r>
              <a:t>Proves global fusion (ReliabilityFusion) is essential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"/>
              </a:defRPr>
            </a:pPr>
            <a:r>
              <a:t>Summary &amp;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406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What we learned and what comes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Core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1. A privacy-first multimodal perception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  VK keypoints replace RGB → no visual privacy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110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2. ReliabilityFusion: uncertainty-driven dynamic weighting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122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  Proved necessary via Super-Teacher architecture ablation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134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3. 4-Level hierarchical knowledge distillation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  Output → Token → Bone → Reliability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4. First unified HPE+HAR framework on the MM-Fi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169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  Same architecture, two tasks, consistent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972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Key Insights from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Distillation teaches robustness, not memorization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099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→ Student survives where Teacher collapses (5.3× better)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1109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92240" y="21122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Cross-modal fusion must happen BEFORE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134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→ Simplified per-modality design crashes on non-VK HPE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92240" y="27157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Student generalizes better than Teacher across scenes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1693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→ KD acts as implicit regularizer for unseen environments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1810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92240" y="331927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Privacy does not require performance sacrifice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→ Student-NV achieves 51mm / 96.1% with zero visual 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34840"/>
            <a:ext cx="109728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Arial"/>
              </a:defRPr>
            </a:pPr>
            <a:r>
              <a:t>Per-Level KD Ablation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Isolate contribution of each distillation layer (Output/Token/Bone/Reliability)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73752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28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Temporal 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828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Exploit frame-to-frame continuity to further constrain modality reliability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12664"/>
            <a:ext cx="109728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66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rial"/>
              </a:defRPr>
            </a:pPr>
            <a:r>
              <a:t>Cross-Task Transfer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26694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Full Super-Teacher: bidirectional HPE↔HAR distillation with gradient balancing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51576"/>
            <a:ext cx="109728" cy="10972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705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Arial"/>
              </a:defRPr>
            </a:pPr>
            <a:r>
              <a:t>Real-World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70585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Edge-device inference benchmarks, latency-accuracy tradeoffs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VK-RCD demonstrates that privacy-preserving human perception can match — and in some cases exceed — full-modal performance through principled knowledge distillation.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